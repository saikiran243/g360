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nter"/>
      <p:regular r:id="rId13"/>
      <p:bold r:id="rId14"/>
      <p:italic r:id="rId15"/>
      <p:boldItalic r:id="rId16"/>
    </p:embeddedFont>
    <p:embeddedFont>
      <p:font typeface="Space Grotesk Medium"/>
      <p:regular r:id="rId17"/>
      <p:bold r:id="rId18"/>
    </p:embeddedFont>
    <p:embeddedFont>
      <p:font typeface="Inter Medium"/>
      <p:regular r:id="rId19"/>
      <p:bold r:id="rId20"/>
      <p:italic r:id="rId21"/>
      <p:boldItalic r:id="rId22"/>
    </p:embeddedFont>
    <p:embeddedFont>
      <p:font typeface="JetBrains Mono"/>
      <p:regular r:id="rId23"/>
      <p:bold r:id="rId24"/>
      <p:italic r:id="rId25"/>
      <p:boldItalic r:id="rId26"/>
    </p:embeddedFont>
    <p:embeddedFont>
      <p:font typeface="Space Grotesk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bold.fntdata"/><Relationship Id="rId22" Type="http://schemas.openxmlformats.org/officeDocument/2006/relationships/font" Target="fonts/InterMedium-boldItalic.fntdata"/><Relationship Id="rId21" Type="http://schemas.openxmlformats.org/officeDocument/2006/relationships/font" Target="fonts/InterMedium-italic.fntdata"/><Relationship Id="rId24" Type="http://schemas.openxmlformats.org/officeDocument/2006/relationships/font" Target="fonts/JetBrainsMono-bold.fntdata"/><Relationship Id="rId23" Type="http://schemas.openxmlformats.org/officeDocument/2006/relationships/font" Target="fonts/JetBrains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boldItalic.fntdata"/><Relationship Id="rId25" Type="http://schemas.openxmlformats.org/officeDocument/2006/relationships/font" Target="fonts/JetBrainsMono-italic.fntdata"/><Relationship Id="rId27" Type="http://schemas.openxmlformats.org/officeDocument/2006/relationships/font" Target="fonts/Space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regular.fntdata"/><Relationship Id="rId12" Type="http://schemas.openxmlformats.org/officeDocument/2006/relationships/slide" Target="slides/slide7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SpaceGroteskMedium-regular.fntdata"/><Relationship Id="rId16" Type="http://schemas.openxmlformats.org/officeDocument/2006/relationships/font" Target="fonts/Inter-boldItalic.fntdata"/><Relationship Id="rId19" Type="http://schemas.openxmlformats.org/officeDocument/2006/relationships/font" Target="fonts/InterMedium-regular.fntdata"/><Relationship Id="rId18" Type="http://schemas.openxmlformats.org/officeDocument/2006/relationships/font" Target="fonts/SpaceGrotesk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18fb27bd2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18fb27bd2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18fb27bd2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18fb27bd2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18fb27bd2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18fb27bd2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18fb27bd2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18fb27bd2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18fb27bd2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18fb27bd2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18fb27bd2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18fb27bd2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18fb27bd2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18fb27bd2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18fb27bd2_13_0)">
  <p:cSld name="Generated (g3f18fb27bd2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381000" y="381000"/>
            <a:ext cx="304800" cy="304800"/>
            <a:chOff x="0" y="0"/>
            <a:chExt cx="304800" cy="3048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304800" cy="3048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6200" y="76200"/>
              <a:ext cx="15240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45000"/>
                  </a:lnTo>
                  <a:lnTo>
                    <a:pt x="45000" y="45000"/>
                  </a:lnTo>
                  <a:lnTo>
                    <a:pt x="45000" y="120000"/>
                  </a:lnTo>
                  <a:lnTo>
                    <a:pt x="120000" y="120000"/>
                  </a:lnTo>
                  <a:lnTo>
                    <a:pt x="120000" y="75000"/>
                  </a:lnTo>
                  <a:lnTo>
                    <a:pt x="75000" y="75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F1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/>
        </p:nvSpPr>
        <p:spPr>
          <a:xfrm>
            <a:off x="381000" y="1143000"/>
            <a:ext cx="7620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75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G360 AI Backend: Secure, Serverless, and Scalable Enterprise AI</a:t>
            </a:r>
            <a:endParaRPr b="1" sz="2775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0" lang="en" sz="1388">
                <a:solidFill>
                  <a:srgbClr val="F9731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Production-grade private infrastructure for Generative AI workloads using Terraform.</a:t>
            </a:r>
            <a:endParaRPr b="0" sz="1388">
              <a:solidFill>
                <a:srgbClr val="F9731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81000" y="2667000"/>
            <a:ext cx="5715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0" lang="en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presentation outlines the architecture and implementation of the G360 AI Backend. It details how we transition from standard, publicly exposed AI integrations to a robust, private-first enterprise environment. By leveraging AWS serverless technologies and Infrastructure as Code (IaC) via Terraform, the G360 AI Backend delivers a highly secure, scalable, and cost-optimized foundation for modern Generative AI applications.</a:t>
            </a:r>
            <a:endParaRPr b="0" sz="10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376238" y="4186238"/>
            <a:ext cx="3819600" cy="485700"/>
            <a:chOff x="-4762" y="-4762"/>
            <a:chExt cx="3819600" cy="485700"/>
          </a:xfrm>
        </p:grpSpPr>
        <p:pic>
          <p:nvPicPr>
            <p:cNvPr id="62" name="Google Shape;6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4762" y="-4762"/>
              <a:ext cx="3819600" cy="48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 txBox="1"/>
            <p:nvPr/>
          </p:nvSpPr>
          <p:spPr>
            <a:xfrm>
              <a:off x="142875" y="95250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&gt; terraform init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381000" y="4857750"/>
            <a:ext cx="3810000" cy="285750"/>
            <a:chOff x="0" y="0"/>
            <a:chExt cx="3810000" cy="285750"/>
          </a:xfrm>
        </p:grpSpPr>
        <p:cxnSp>
          <p:nvCxnSpPr>
            <p:cNvPr id="65" name="Google Shape;65;p14"/>
            <p:cNvCxnSpPr/>
            <p:nvPr/>
          </p:nvCxnSpPr>
          <p:spPr>
            <a:xfrm>
              <a:off x="0" y="0"/>
              <a:ext cx="381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" name="Google Shape;66;p14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G360 AI BACKEND ARCHITECTURE | SAIKIRAN SHANIGARAPU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6858000" y="4857750"/>
            <a:ext cx="1905000" cy="285750"/>
            <a:chOff x="0" y="0"/>
            <a:chExt cx="1905000" cy="285750"/>
          </a:xfrm>
        </p:grpSpPr>
        <p:cxnSp>
          <p:nvCxnSpPr>
            <p:cNvPr id="68" name="Google Shape;68;p14"/>
            <p:cNvCxnSpPr/>
            <p:nvPr/>
          </p:nvCxnSpPr>
          <p:spPr>
            <a:xfrm>
              <a:off x="0" y="0"/>
              <a:ext cx="1905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" name="Google Shape;69;p14"/>
            <p:cNvSpPr txBox="1"/>
            <p:nvPr/>
          </p:nvSpPr>
          <p:spPr>
            <a:xfrm>
              <a:off x="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17, 2026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5"/>
          <p:cNvGrpSpPr/>
          <p:nvPr/>
        </p:nvGrpSpPr>
        <p:grpSpPr>
          <a:xfrm>
            <a:off x="381000" y="285750"/>
            <a:ext cx="8382000" cy="571500"/>
            <a:chOff x="0" y="0"/>
            <a:chExt cx="8382000" cy="571500"/>
          </a:xfrm>
        </p:grpSpPr>
        <p:sp>
          <p:nvSpPr>
            <p:cNvPr id="75" name="Google Shape;75;p15"/>
            <p:cNvSpPr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n" sz="240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Problem Statement: Security, Cost, and Complexity</a:t>
              </a:r>
              <a:endParaRPr b="1" sz="2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381000" y="1143000"/>
            <a:ext cx="2667000" cy="3048000"/>
            <a:chOff x="0" y="0"/>
            <a:chExt cx="2667000" cy="3048000"/>
          </a:xfrm>
        </p:grpSpPr>
        <p:sp>
          <p:nvSpPr>
            <p:cNvPr id="78" name="Google Shape;78;p15"/>
            <p:cNvSpPr/>
            <p:nvPr/>
          </p:nvSpPr>
          <p:spPr>
            <a:xfrm>
              <a:off x="0" y="0"/>
              <a:ext cx="2667000" cy="3048000"/>
            </a:xfrm>
            <a:prstGeom prst="rect">
              <a:avLst/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190500" y="228600"/>
              <a:ext cx="2286000" cy="26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Data Privacy Risks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Hardcoding access credentials or routing Generative AI calls over the public internet exposes highly sensitive enterprise request data to interception and unauthorized access.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3238500" y="1143000"/>
            <a:ext cx="2667000" cy="3048000"/>
            <a:chOff x="0" y="0"/>
            <a:chExt cx="2667000" cy="3048000"/>
          </a:xfrm>
        </p:grpSpPr>
        <p:sp>
          <p:nvSpPr>
            <p:cNvPr id="82" name="Google Shape;82;p15"/>
            <p:cNvSpPr/>
            <p:nvPr/>
          </p:nvSpPr>
          <p:spPr>
            <a:xfrm>
              <a:off x="0" y="0"/>
              <a:ext cx="2667000" cy="3048000"/>
            </a:xfrm>
            <a:prstGeom prst="rect">
              <a:avLst/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190500" y="228600"/>
              <a:ext cx="2286000" cy="26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Idle Infrastructure Costs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Traditional compute hosts and pre-allocated document databases incur significant expenses. They run up large monthly bills continuously, even during periods when application traffic is at zero.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6096000" y="1143000"/>
            <a:ext cx="2667000" cy="3048000"/>
            <a:chOff x="0" y="0"/>
            <a:chExt cx="2667000" cy="30480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2667000" cy="3048000"/>
            </a:xfrm>
            <a:prstGeom prst="rect">
              <a:avLst/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190500" y="228600"/>
              <a:ext cx="2286000" cy="26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Complex Network Topology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Safely bridging public-facing APIs to internal company application logic is inherently difficult. Without careful design, it creates severe security vulnerabilities and broadens the attack surface.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381000" y="4857750"/>
            <a:ext cx="3810000" cy="285750"/>
            <a:chOff x="0" y="0"/>
            <a:chExt cx="3810000" cy="285750"/>
          </a:xfrm>
        </p:grpSpPr>
        <p:cxnSp>
          <p:nvCxnSpPr>
            <p:cNvPr id="90" name="Google Shape;90;p15"/>
            <p:cNvCxnSpPr/>
            <p:nvPr/>
          </p:nvCxnSpPr>
          <p:spPr>
            <a:xfrm>
              <a:off x="0" y="0"/>
              <a:ext cx="381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" name="Google Shape;91;p15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G360 AI BACKEND ARCHITECTURE | SAIKIRAN SHANIGARAPU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6858000" y="4857750"/>
            <a:ext cx="1905000" cy="285750"/>
            <a:chOff x="0" y="0"/>
            <a:chExt cx="1905000" cy="285750"/>
          </a:xfrm>
        </p:grpSpPr>
        <p:cxnSp>
          <p:nvCxnSpPr>
            <p:cNvPr id="93" name="Google Shape;93;p15"/>
            <p:cNvCxnSpPr/>
            <p:nvPr/>
          </p:nvCxnSpPr>
          <p:spPr>
            <a:xfrm>
              <a:off x="0" y="0"/>
              <a:ext cx="1905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" name="Google Shape;94;p15"/>
            <p:cNvSpPr txBox="1"/>
            <p:nvPr/>
          </p:nvSpPr>
          <p:spPr>
            <a:xfrm>
              <a:off x="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17, 2026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Engineered Solution: Private, Declarative, and Lean</a:t>
            </a:r>
            <a:endParaRPr b="1" sz="24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02" name="Google Shape;102;p16"/>
          <p:cNvGrpSpPr/>
          <p:nvPr/>
        </p:nvGrpSpPr>
        <p:grpSpPr>
          <a:xfrm>
            <a:off x="381000" y="1143000"/>
            <a:ext cx="2667000" cy="3238500"/>
            <a:chOff x="0" y="0"/>
            <a:chExt cx="2667000" cy="323850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2667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0" y="0"/>
              <a:ext cx="2667000" cy="2859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95250" y="57150"/>
              <a:ext cx="2476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network.tf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190500" y="476250"/>
              <a:ext cx="2286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Private-First Network Separation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architecture isolates the core FastAPI application completely. It resides inside isolated private subnets with absolutely zero direct public internet entry points, ensuring internal traffic remains secure.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3238500" y="1143000"/>
            <a:ext cx="2667000" cy="3238500"/>
            <a:chOff x="0" y="0"/>
            <a:chExt cx="2667000" cy="3238500"/>
          </a:xfrm>
        </p:grpSpPr>
        <p:sp>
          <p:nvSpPr>
            <p:cNvPr id="108" name="Google Shape;108;p16"/>
            <p:cNvSpPr/>
            <p:nvPr/>
          </p:nvSpPr>
          <p:spPr>
            <a:xfrm>
              <a:off x="0" y="0"/>
              <a:ext cx="2667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0" y="0"/>
              <a:ext cx="2667000" cy="2859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95250" y="57150"/>
              <a:ext cx="2476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iam.tf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190500" y="476250"/>
              <a:ext cx="2286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Declarative Infrastructure (IaC)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100% of the environment is codified. The network topology, databases, identity permissions, and serverless compute layers are defined via reproducible Terraform code, eliminating manual configuration drift.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" name="Google Shape;112;p16"/>
          <p:cNvGrpSpPr/>
          <p:nvPr/>
        </p:nvGrpSpPr>
        <p:grpSpPr>
          <a:xfrm>
            <a:off x="6096000" y="1143000"/>
            <a:ext cx="2667000" cy="3238500"/>
            <a:chOff x="0" y="0"/>
            <a:chExt cx="2667000" cy="3238500"/>
          </a:xfrm>
        </p:grpSpPr>
        <p:sp>
          <p:nvSpPr>
            <p:cNvPr id="113" name="Google Shape;113;p16"/>
            <p:cNvSpPr/>
            <p:nvPr/>
          </p:nvSpPr>
          <p:spPr>
            <a:xfrm>
              <a:off x="0" y="0"/>
              <a:ext cx="2667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0" y="0"/>
              <a:ext cx="2667000" cy="2859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95250" y="57150"/>
              <a:ext cx="2476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compute.tf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190500" y="476250"/>
              <a:ext cx="2286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Lean Resource Allocation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system aggressively removes costly fixed-price infrastructure. Instead, it utilizes scalable, pay-per-use, or free-tier eligible resources to minimize the financial footprint while maintaining high availability.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381000" y="4857750"/>
            <a:ext cx="3810000" cy="285750"/>
            <a:chOff x="0" y="0"/>
            <a:chExt cx="3810000" cy="285750"/>
          </a:xfrm>
        </p:grpSpPr>
        <p:cxnSp>
          <p:nvCxnSpPr>
            <p:cNvPr id="118" name="Google Shape;118;p16"/>
            <p:cNvCxnSpPr/>
            <p:nvPr/>
          </p:nvCxnSpPr>
          <p:spPr>
            <a:xfrm>
              <a:off x="0" y="0"/>
              <a:ext cx="381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" name="Google Shape;119;p16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G360 AI BACKEND ARCHITECTURE | SAIKIRAN SHANIGARAPU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6858000" y="4857750"/>
            <a:ext cx="1905000" cy="285750"/>
            <a:chOff x="0" y="0"/>
            <a:chExt cx="1905000" cy="285750"/>
          </a:xfrm>
        </p:grpSpPr>
        <p:cxnSp>
          <p:nvCxnSpPr>
            <p:cNvPr id="121" name="Google Shape;121;p16"/>
            <p:cNvCxnSpPr/>
            <p:nvPr/>
          </p:nvCxnSpPr>
          <p:spPr>
            <a:xfrm>
              <a:off x="0" y="0"/>
              <a:ext cx="1905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" name="Google Shape;122;p16"/>
            <p:cNvSpPr txBox="1"/>
            <p:nvPr/>
          </p:nvSpPr>
          <p:spPr>
            <a:xfrm>
              <a:off x="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17, 2026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Stack &amp; Implementation</a:t>
            </a:r>
            <a:endParaRPr b="1" sz="24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29" name="Google Shape;129;p17"/>
          <p:cNvGrpSpPr/>
          <p:nvPr/>
        </p:nvGrpSpPr>
        <p:grpSpPr>
          <a:xfrm>
            <a:off x="381000" y="1047750"/>
            <a:ext cx="8382000" cy="952500"/>
            <a:chOff x="0" y="0"/>
            <a:chExt cx="8382000" cy="952500"/>
          </a:xfrm>
        </p:grpSpPr>
        <p:sp>
          <p:nvSpPr>
            <p:cNvPr id="130" name="Google Shape;130;p17"/>
            <p:cNvSpPr/>
            <p:nvPr/>
          </p:nvSpPr>
          <p:spPr>
            <a:xfrm>
              <a:off x="0" y="0"/>
              <a:ext cx="8382000" cy="952500"/>
            </a:xfrm>
            <a:prstGeom prst="rect">
              <a:avLst/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0" y="0"/>
              <a:ext cx="76200" cy="952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285750" y="190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Ingress Layer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AWS API Gateway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2381250" y="190500"/>
              <a:ext cx="571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Traffic enters via AWS API Gateway HTTP API. Uses aws_apigatewayv2_vpc_link to securely bridge public traffic into the private network without internal exposure.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4" name="Google Shape;134;p17"/>
          <p:cNvGrpSpPr/>
          <p:nvPr/>
        </p:nvGrpSpPr>
        <p:grpSpPr>
          <a:xfrm>
            <a:off x="381000" y="2190750"/>
            <a:ext cx="8382000" cy="952500"/>
            <a:chOff x="0" y="0"/>
            <a:chExt cx="8382000" cy="952500"/>
          </a:xfrm>
        </p:grpSpPr>
        <p:sp>
          <p:nvSpPr>
            <p:cNvPr id="135" name="Google Shape;135;p17"/>
            <p:cNvSpPr/>
            <p:nvPr/>
          </p:nvSpPr>
          <p:spPr>
            <a:xfrm>
              <a:off x="0" y="0"/>
              <a:ext cx="8382000" cy="952500"/>
            </a:xfrm>
            <a:prstGeom prst="rect">
              <a:avLst/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0" y="0"/>
              <a:ext cx="76200" cy="9525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285750" y="190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Compute Layer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AWS ECS / Fargate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2381250" y="190500"/>
              <a:ext cx="571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Core Python FastAPI logic on serverless AWS Fargate. Instances reside in private subnets, managed dynamically via AWS Cloud Map (Service Discovery).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9" name="Google Shape;139;p17"/>
          <p:cNvGrpSpPr/>
          <p:nvPr/>
        </p:nvGrpSpPr>
        <p:grpSpPr>
          <a:xfrm>
            <a:off x="381000" y="3333750"/>
            <a:ext cx="8382000" cy="952500"/>
            <a:chOff x="0" y="0"/>
            <a:chExt cx="8382000" cy="952500"/>
          </a:xfrm>
        </p:grpSpPr>
        <p:sp>
          <p:nvSpPr>
            <p:cNvPr id="140" name="Google Shape;140;p17"/>
            <p:cNvSpPr/>
            <p:nvPr/>
          </p:nvSpPr>
          <p:spPr>
            <a:xfrm>
              <a:off x="0" y="0"/>
              <a:ext cx="8382000" cy="952500"/>
            </a:xfrm>
            <a:prstGeom prst="rect">
              <a:avLst/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0" y="0"/>
              <a:ext cx="76200" cy="952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285750" y="190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Storage &amp; AI Layer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RDS, DynamoDB, S3, Bedrock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2381250" y="142875"/>
              <a:ext cx="5715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RDS PostgreSQL (db.t4g.micro), pay-per-request DynamoDB, and S3 Data Lake. Amazon Bedrock provides secure, local AI model execution.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" name="Google Shape;144;p17"/>
          <p:cNvGrpSpPr/>
          <p:nvPr/>
        </p:nvGrpSpPr>
        <p:grpSpPr>
          <a:xfrm>
            <a:off x="381000" y="4857750"/>
            <a:ext cx="3810000" cy="285750"/>
            <a:chOff x="0" y="0"/>
            <a:chExt cx="3810000" cy="285750"/>
          </a:xfrm>
        </p:grpSpPr>
        <p:cxnSp>
          <p:nvCxnSpPr>
            <p:cNvPr id="145" name="Google Shape;145;p17"/>
            <p:cNvCxnSpPr/>
            <p:nvPr/>
          </p:nvCxnSpPr>
          <p:spPr>
            <a:xfrm>
              <a:off x="0" y="0"/>
              <a:ext cx="381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" name="Google Shape;146;p17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G360 AI BACKEND ARCHITECTURE | SAIKIRAN SHANIGARAPU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6858000" y="4857750"/>
            <a:ext cx="1905000" cy="285750"/>
            <a:chOff x="0" y="0"/>
            <a:chExt cx="1905000" cy="285750"/>
          </a:xfrm>
        </p:grpSpPr>
        <p:cxnSp>
          <p:nvCxnSpPr>
            <p:cNvPr id="148" name="Google Shape;148;p17"/>
            <p:cNvCxnSpPr/>
            <p:nvPr/>
          </p:nvCxnSpPr>
          <p:spPr>
            <a:xfrm>
              <a:off x="0" y="0"/>
              <a:ext cx="1905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9" name="Google Shape;149;p17"/>
            <p:cNvSpPr txBox="1"/>
            <p:nvPr/>
          </p:nvSpPr>
          <p:spPr>
            <a:xfrm>
              <a:off x="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17, 2026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Security Architecture</a:t>
            </a:r>
            <a:endParaRPr b="1" sz="24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381000" y="7620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0" lang="en" sz="10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G360 backend enforces a strict security posture through network isolation and principle-of-least-privilege identity management.</a:t>
            </a:r>
            <a:endParaRPr b="0" sz="105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7" name="Google Shape;157;p18"/>
          <p:cNvGrpSpPr/>
          <p:nvPr/>
        </p:nvGrpSpPr>
        <p:grpSpPr>
          <a:xfrm>
            <a:off x="381000" y="1333500"/>
            <a:ext cx="4095900" cy="3238500"/>
            <a:chOff x="0" y="0"/>
            <a:chExt cx="4095900" cy="3238500"/>
          </a:xfrm>
        </p:grpSpPr>
        <p:sp>
          <p:nvSpPr>
            <p:cNvPr id="158" name="Google Shape;158;p18"/>
            <p:cNvSpPr/>
            <p:nvPr/>
          </p:nvSpPr>
          <p:spPr>
            <a:xfrm>
              <a:off x="0" y="0"/>
              <a:ext cx="40959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3543317" y="333375"/>
              <a:ext cx="190500" cy="133500"/>
            </a:xfrm>
            <a:custGeom>
              <a:rect b="b" l="l" r="r" t="t"/>
              <a:pathLst>
                <a:path extrusionOk="0" h="120000" w="120000">
                  <a:moveTo>
                    <a:pt x="92998" y="120000"/>
                  </a:moveTo>
                  <a:lnTo>
                    <a:pt x="41993" y="120000"/>
                  </a:lnTo>
                  <a:cubicBezTo>
                    <a:pt x="20365" y="119992"/>
                    <a:pt x="2277" y="96526"/>
                    <a:pt x="195" y="65776"/>
                  </a:cubicBezTo>
                  <a:cubicBezTo>
                    <a:pt x="-1887" y="35025"/>
                    <a:pt x="12718" y="7043"/>
                    <a:pt x="33944" y="1115"/>
                  </a:cubicBezTo>
                  <a:cubicBezTo>
                    <a:pt x="55170" y="-4813"/>
                    <a:pt x="76077" y="13251"/>
                    <a:pt x="82257" y="42857"/>
                  </a:cubicBezTo>
                  <a:lnTo>
                    <a:pt x="92998" y="42857"/>
                  </a:lnTo>
                  <a:cubicBezTo>
                    <a:pt x="107911" y="42857"/>
                    <a:pt x="120000" y="60126"/>
                    <a:pt x="120000" y="81429"/>
                  </a:cubicBezTo>
                  <a:cubicBezTo>
                    <a:pt x="120000" y="102731"/>
                    <a:pt x="107911" y="120000"/>
                    <a:pt x="92998" y="12000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285750" y="285750"/>
              <a:ext cx="3524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Network Isolation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97316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Zero Host Exposure</a:t>
              </a:r>
              <a:endParaRPr b="0" sz="1200">
                <a:solidFill>
                  <a:srgbClr val="F9731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Fargate tasks are explicitly configured with </a:t>
              </a:r>
              <a:r>
                <a:rPr b="0"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assign_public_ip = false</a:t>
              </a: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Because of this, the underlying compute instances cannot be reached directly from the internet under any circumstances, providing a robust first line of defense.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2" name="Google Shape;162;p18"/>
          <p:cNvGrpSpPr/>
          <p:nvPr/>
        </p:nvGrpSpPr>
        <p:grpSpPr>
          <a:xfrm>
            <a:off x="4667250" y="1333500"/>
            <a:ext cx="4095900" cy="3238500"/>
            <a:chOff x="0" y="0"/>
            <a:chExt cx="4095900" cy="3238500"/>
          </a:xfrm>
        </p:grpSpPr>
        <p:sp>
          <p:nvSpPr>
            <p:cNvPr id="163" name="Google Shape;163;p18"/>
            <p:cNvSpPr/>
            <p:nvPr/>
          </p:nvSpPr>
          <p:spPr>
            <a:xfrm>
              <a:off x="0" y="0"/>
              <a:ext cx="40959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3562350" y="304800"/>
              <a:ext cx="152400" cy="1905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120000" y="96000"/>
                  </a:lnTo>
                  <a:lnTo>
                    <a:pt x="120000" y="60000"/>
                  </a:lnTo>
                  <a:lnTo>
                    <a:pt x="120000" y="18000"/>
                  </a:lnTo>
                  <a:lnTo>
                    <a:pt x="60000" y="0"/>
                  </a:lnTo>
                  <a:lnTo>
                    <a:pt x="0" y="18000"/>
                  </a:lnTo>
                  <a:lnTo>
                    <a:pt x="0" y="60000"/>
                  </a:lnTo>
                  <a:cubicBezTo>
                    <a:pt x="0" y="96000"/>
                    <a:pt x="60000" y="120000"/>
                    <a:pt x="60000" y="120000"/>
                  </a:cubicBezTo>
                  <a:close/>
                  <a:moveTo>
                    <a:pt x="60000" y="36000"/>
                  </a:moveTo>
                  <a:lnTo>
                    <a:pt x="60000" y="60000"/>
                  </a:lnTo>
                  <a:moveTo>
                    <a:pt x="60000" y="84000"/>
                  </a:moveTo>
                  <a:lnTo>
                    <a:pt x="60075" y="84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973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285750" y="285750"/>
              <a:ext cx="3524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IAM Governance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97316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Execution vs Task Roles</a:t>
              </a:r>
              <a:endParaRPr b="0" sz="1200">
                <a:solidFill>
                  <a:srgbClr val="F9731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We enforce a strict division of IAM roles to minimize the blast radius of any potential compromise: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F97316"/>
                  </a:solidFill>
                  <a:latin typeface="Inter"/>
                  <a:ea typeface="Inter"/>
                  <a:cs typeface="Inter"/>
                  <a:sym typeface="Inter"/>
                </a:rPr>
                <a:t>Execution Role:</a:t>
              </a:r>
              <a:r>
                <a:rPr b="0" lang="en" sz="10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Scoped purely to system-level tasks: pulling Docker images from ECR and sending logs to CloudWatch.</a:t>
              </a:r>
              <a:endParaRPr b="0" sz="10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750"/>
                </a:spcAft>
                <a:buSzPts val="1400"/>
                <a:buChar char="●"/>
              </a:pPr>
              <a:r>
                <a:rPr b="1" lang="en" sz="1050">
                  <a:solidFill>
                    <a:srgbClr val="F97316"/>
                  </a:solidFill>
                  <a:latin typeface="Inter"/>
                  <a:ea typeface="Inter"/>
                  <a:cs typeface="Inter"/>
                  <a:sym typeface="Inter"/>
                </a:rPr>
                <a:t>Task Role:</a:t>
              </a:r>
              <a:r>
                <a:rPr b="0" lang="en" sz="10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Scoped purely to runtime code execution. Restricted to </a:t>
              </a:r>
              <a:r>
                <a:rPr b="0"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bedrock:InvokeModel</a:t>
              </a:r>
              <a:r>
                <a:rPr b="0" lang="en" sz="10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and designated S3/DynamoDB resources.</a:t>
              </a:r>
              <a:endParaRPr b="0" sz="10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7" name="Google Shape;167;p18"/>
          <p:cNvGrpSpPr/>
          <p:nvPr/>
        </p:nvGrpSpPr>
        <p:grpSpPr>
          <a:xfrm>
            <a:off x="381000" y="4857750"/>
            <a:ext cx="3810000" cy="285750"/>
            <a:chOff x="0" y="0"/>
            <a:chExt cx="3810000" cy="285750"/>
          </a:xfrm>
        </p:grpSpPr>
        <p:cxnSp>
          <p:nvCxnSpPr>
            <p:cNvPr id="168" name="Google Shape;168;p18"/>
            <p:cNvCxnSpPr/>
            <p:nvPr/>
          </p:nvCxnSpPr>
          <p:spPr>
            <a:xfrm>
              <a:off x="0" y="0"/>
              <a:ext cx="381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9" name="Google Shape;169;p18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G360 AI BACKEND ARCHITECTURE | SAIKIRAN SHANIGARAPU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6858000" y="4857750"/>
            <a:ext cx="1905000" cy="285750"/>
            <a:chOff x="0" y="0"/>
            <a:chExt cx="1905000" cy="285750"/>
          </a:xfrm>
        </p:grpSpPr>
        <p:cxnSp>
          <p:nvCxnSpPr>
            <p:cNvPr id="171" name="Google Shape;171;p18"/>
            <p:cNvCxnSpPr/>
            <p:nvPr/>
          </p:nvCxnSpPr>
          <p:spPr>
            <a:xfrm>
              <a:off x="0" y="0"/>
              <a:ext cx="1905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18"/>
            <p:cNvSpPr txBox="1"/>
            <p:nvPr/>
          </p:nvSpPr>
          <p:spPr>
            <a:xfrm>
              <a:off x="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17, 2026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Scalability Mechanics</a:t>
            </a:r>
            <a:endParaRPr b="1" sz="24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80" name="Google Shape;180;p19"/>
          <p:cNvGrpSpPr/>
          <p:nvPr/>
        </p:nvGrpSpPr>
        <p:grpSpPr>
          <a:xfrm>
            <a:off x="381000" y="1143000"/>
            <a:ext cx="2667000" cy="3238500"/>
            <a:chOff x="0" y="0"/>
            <a:chExt cx="2667000" cy="3238500"/>
          </a:xfrm>
        </p:grpSpPr>
        <p:sp>
          <p:nvSpPr>
            <p:cNvPr id="181" name="Google Shape;181;p19"/>
            <p:cNvSpPr/>
            <p:nvPr/>
          </p:nvSpPr>
          <p:spPr>
            <a:xfrm>
              <a:off x="0" y="0"/>
              <a:ext cx="2667000" cy="3238500"/>
            </a:xfrm>
            <a:prstGeom prst="rect">
              <a:avLst/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190500" y="228600"/>
              <a:ext cx="22860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Stateless Compute (ECS Fargate)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AWS.FARGATE // FASTAPI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Because AWS Fargate abstracts away the underlying servers, the Python FastAPI application functions as a stateless layer.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This allows it to scale out horizontally and instantly to handle sudden spikes in user traffic without manual intervention or server management overhead.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4" name="Google Shape;184;p19"/>
          <p:cNvGrpSpPr/>
          <p:nvPr/>
        </p:nvGrpSpPr>
        <p:grpSpPr>
          <a:xfrm>
            <a:off x="3238500" y="1143000"/>
            <a:ext cx="2667000" cy="3238500"/>
            <a:chOff x="0" y="0"/>
            <a:chExt cx="2667000" cy="3238500"/>
          </a:xfrm>
        </p:grpSpPr>
        <p:sp>
          <p:nvSpPr>
            <p:cNvPr id="185" name="Google Shape;185;p19"/>
            <p:cNvSpPr/>
            <p:nvPr/>
          </p:nvSpPr>
          <p:spPr>
            <a:xfrm>
              <a:off x="0" y="0"/>
              <a:ext cx="2667000" cy="3238500"/>
            </a:xfrm>
            <a:prstGeom prst="rect">
              <a:avLst/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190500" y="228600"/>
              <a:ext cx="22860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Dynamic Discovery (Cloud Map)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AWS.CLOUDMAP // PRIVATE.DNS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AWS Cloud Map maintains an internal private DNS namespace (api.g360.internal).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As Fargate tasks scale up or restart, the API Gateway seamlessly tracks their location via SRV records, completely eliminating the need for hardcoded IP addresses or complex load balancing configs.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8" name="Google Shape;188;p19"/>
          <p:cNvGrpSpPr/>
          <p:nvPr/>
        </p:nvGrpSpPr>
        <p:grpSpPr>
          <a:xfrm>
            <a:off x="6096000" y="1143000"/>
            <a:ext cx="2667000" cy="3238500"/>
            <a:chOff x="0" y="0"/>
            <a:chExt cx="2667000" cy="3238500"/>
          </a:xfrm>
        </p:grpSpPr>
        <p:sp>
          <p:nvSpPr>
            <p:cNvPr id="189" name="Google Shape;189;p19"/>
            <p:cNvSpPr/>
            <p:nvPr/>
          </p:nvSpPr>
          <p:spPr>
            <a:xfrm>
              <a:off x="0" y="0"/>
              <a:ext cx="2667000" cy="3238500"/>
            </a:xfrm>
            <a:prstGeom prst="rect">
              <a:avLst/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190500" y="228600"/>
              <a:ext cx="22860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Elastic Data (DynamoDB Pay-Per-Request)</a:t>
              </a:r>
              <a:endParaRPr b="1" sz="13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AWS.DYNAMODB // NO_SQL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DynamoDB table is configured for PAY_PER_REQUEST billing.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This allows the database to instantly adapt to varying traffic volumes without requiring manual read/write capacity scaling or provisioning, ensuring high availability under load.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2" name="Google Shape;192;p19"/>
          <p:cNvGrpSpPr/>
          <p:nvPr/>
        </p:nvGrpSpPr>
        <p:grpSpPr>
          <a:xfrm>
            <a:off x="381000" y="4857750"/>
            <a:ext cx="3810000" cy="285750"/>
            <a:chOff x="0" y="0"/>
            <a:chExt cx="3810000" cy="285750"/>
          </a:xfrm>
        </p:grpSpPr>
        <p:cxnSp>
          <p:nvCxnSpPr>
            <p:cNvPr id="193" name="Google Shape;193;p19"/>
            <p:cNvCxnSpPr/>
            <p:nvPr/>
          </p:nvCxnSpPr>
          <p:spPr>
            <a:xfrm>
              <a:off x="0" y="0"/>
              <a:ext cx="381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4" name="Google Shape;194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G360 AI BACKEND ARCHITECTURE | SAIKIRAN SHANIGARAPU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95" name="Google Shape;195;p19"/>
          <p:cNvGrpSpPr/>
          <p:nvPr/>
        </p:nvGrpSpPr>
        <p:grpSpPr>
          <a:xfrm>
            <a:off x="6858000" y="4857750"/>
            <a:ext cx="1905000" cy="285750"/>
            <a:chOff x="0" y="0"/>
            <a:chExt cx="1905000" cy="285750"/>
          </a:xfrm>
        </p:grpSpPr>
        <p:cxnSp>
          <p:nvCxnSpPr>
            <p:cNvPr id="196" name="Google Shape;196;p19"/>
            <p:cNvCxnSpPr/>
            <p:nvPr/>
          </p:nvCxnSpPr>
          <p:spPr>
            <a:xfrm>
              <a:off x="0" y="0"/>
              <a:ext cx="1905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7" name="Google Shape;197;p19"/>
            <p:cNvSpPr txBox="1"/>
            <p:nvPr/>
          </p:nvSpPr>
          <p:spPr>
            <a:xfrm>
              <a:off x="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17, 2026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Cost Optimization Decisions</a:t>
            </a:r>
            <a:endParaRPr b="1" sz="24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750"/>
              </a:spcAft>
              <a:buNone/>
            </a:pPr>
            <a:r>
              <a:rPr b="0" lang="en" sz="10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Strategic infrastructure choices ensure the backend remains highly cost-effective.</a:t>
            </a:r>
            <a:endParaRPr b="0" sz="105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5" name="Google Shape;205;p20"/>
          <p:cNvGrpSpPr/>
          <p:nvPr/>
        </p:nvGrpSpPr>
        <p:grpSpPr>
          <a:xfrm>
            <a:off x="381000" y="1285875"/>
            <a:ext cx="2667000" cy="3048000"/>
            <a:chOff x="0" y="0"/>
            <a:chExt cx="2667000" cy="3048000"/>
          </a:xfrm>
        </p:grpSpPr>
        <p:sp>
          <p:nvSpPr>
            <p:cNvPr id="206" name="Google Shape;206;p20"/>
            <p:cNvSpPr/>
            <p:nvPr/>
          </p:nvSpPr>
          <p:spPr>
            <a:xfrm>
              <a:off x="0" y="0"/>
              <a:ext cx="2667000" cy="3048000"/>
            </a:xfrm>
            <a:prstGeom prst="rect">
              <a:avLst/>
            </a:prstGeom>
            <a:solidFill>
              <a:srgbClr val="0F172A"/>
            </a:solidFill>
            <a:ln cap="flat" cmpd="sng" w="19050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190500" y="190500"/>
              <a:ext cx="2286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8B5CF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NAT Optimization</a:t>
              </a:r>
              <a:endParaRPr b="1" sz="1350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Eliminate heavy costs by running a single gateway across availability zones instead of multiple instances.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single_nat_gateway = true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module "vpc"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3238500" y="1285875"/>
            <a:ext cx="2667000" cy="3048000"/>
            <a:chOff x="0" y="0"/>
            <a:chExt cx="2667000" cy="3048000"/>
          </a:xfrm>
        </p:grpSpPr>
        <p:sp>
          <p:nvSpPr>
            <p:cNvPr id="209" name="Google Shape;209;p20"/>
            <p:cNvSpPr/>
            <p:nvPr/>
          </p:nvSpPr>
          <p:spPr>
            <a:xfrm>
              <a:off x="0" y="0"/>
              <a:ext cx="2667000" cy="3048000"/>
            </a:xfrm>
            <a:prstGeom prst="rect">
              <a:avLst/>
            </a:prstGeom>
            <a:solidFill>
              <a:srgbClr val="0F172A"/>
            </a:solidFill>
            <a:ln cap="flat" cmpd="sng" w="19050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190500" y="190500"/>
              <a:ext cx="2286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8B5CF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RDS ARM Instance</a:t>
              </a:r>
              <a:endParaRPr b="1" sz="1350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Leveraging AWS free-tier eligibility and high-efficiency ARM-based architecture for minimal relational data storage overhead.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instance_class = "db.t4g.micro"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engine = "postgres"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6096000" y="1285875"/>
            <a:ext cx="2667000" cy="3048000"/>
            <a:chOff x="0" y="0"/>
            <a:chExt cx="2667000" cy="3048000"/>
          </a:xfrm>
        </p:grpSpPr>
        <p:sp>
          <p:nvSpPr>
            <p:cNvPr id="212" name="Google Shape;212;p20"/>
            <p:cNvSpPr/>
            <p:nvPr/>
          </p:nvSpPr>
          <p:spPr>
            <a:xfrm>
              <a:off x="0" y="0"/>
              <a:ext cx="2667000" cy="3048000"/>
            </a:xfrm>
            <a:prstGeom prst="rect">
              <a:avLst/>
            </a:prstGeom>
            <a:solidFill>
              <a:srgbClr val="0F172A"/>
            </a:solidFill>
            <a:ln cap="flat" cmpd="sng" w="19050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190500" y="190500"/>
              <a:ext cx="2286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8B5CF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Resource Lifecycle</a:t>
              </a:r>
              <a:endParaRPr b="1" sz="1350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Guarantees clean environment teardowns, preventing orphaned cloud resources from generating hidden legacy costs.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force_destroy = true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B5CF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aws_s3_bucket | aws_ecr_repository</a:t>
              </a:r>
              <a:endParaRPr sz="900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381000" y="4857750"/>
            <a:ext cx="3810000" cy="285750"/>
            <a:chOff x="0" y="0"/>
            <a:chExt cx="3810000" cy="285750"/>
          </a:xfrm>
        </p:grpSpPr>
        <p:cxnSp>
          <p:nvCxnSpPr>
            <p:cNvPr id="215" name="Google Shape;215;p20"/>
            <p:cNvCxnSpPr/>
            <p:nvPr/>
          </p:nvCxnSpPr>
          <p:spPr>
            <a:xfrm>
              <a:off x="0" y="0"/>
              <a:ext cx="381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6" name="Google Shape;216;p20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G360 AI BACKEND ARCHITECTURE | SAIKIRAN SHANIGARAPU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17" name="Google Shape;217;p20"/>
          <p:cNvGrpSpPr/>
          <p:nvPr/>
        </p:nvGrpSpPr>
        <p:grpSpPr>
          <a:xfrm>
            <a:off x="6858000" y="4857750"/>
            <a:ext cx="1905000" cy="285750"/>
            <a:chOff x="0" y="0"/>
            <a:chExt cx="1905000" cy="285750"/>
          </a:xfrm>
        </p:grpSpPr>
        <p:cxnSp>
          <p:nvCxnSpPr>
            <p:cNvPr id="218" name="Google Shape;218;p20"/>
            <p:cNvCxnSpPr/>
            <p:nvPr/>
          </p:nvCxnSpPr>
          <p:spPr>
            <a:xfrm>
              <a:off x="0" y="0"/>
              <a:ext cx="1905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9" name="Google Shape;219;p20"/>
            <p:cNvSpPr txBox="1"/>
            <p:nvPr/>
          </p:nvSpPr>
          <p:spPr>
            <a:xfrm>
              <a:off x="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17, 2026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